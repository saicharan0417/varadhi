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C52B4-708F-499D-96E5-3A405B2D466E}" v="61" dt="2026-08-22T01:54:49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9/4/2026</a:t>
            </a:fld>
            <a:endParaRPr lang="en-US"/>
          </a:p>
        </p:txBody>
      </p:sp>
      <p:sp>
        <p:nvSpPr>
          <p:cNvPr id="104870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4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ity.gov.in/content/digital-personal-data-protection-act-2023" TargetMode="External"/><Relationship Id="rId5" Type="http://schemas.openxmlformats.org/officeDocument/2006/relationships/hyperlink" Target="https://esanjeevani.mohfw.gov.in/" TargetMode="External"/><Relationship Id="rId4" Type="http://schemas.openxmlformats.org/officeDocument/2006/relationships/hyperlink" Target="https://abdm.gov.in/scan-sh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331285" y="2076450"/>
            <a:ext cx="6497119" cy="3636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>
                <a:solidFill>
                  <a:srgbClr val="FF0000"/>
                </a:solidFill>
              </a:rPr>
              <a:t>SIH26133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VARADHI (Bridging Every Step of Rural HealthCare)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MedTech/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/HealthTech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NeuralNest</a:t>
            </a:r>
            <a:endParaRPr lang="en-IN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3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114535"/>
            <a:ext cx="12191999" cy="74346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94458" y="-172601"/>
            <a:ext cx="10972800" cy="1062337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MEDI-SAARTHI</a:t>
            </a: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9773" y="6265383"/>
            <a:ext cx="11443989" cy="714537"/>
          </a:xfrm>
        </p:spPr>
        <p:txBody>
          <a:bodyPr/>
          <a:lstStyle/>
          <a:p>
            <a:r>
              <a:rPr lang="en-US" sz="1800" b="1" dirty="0">
                <a:solidFill>
                  <a:srgbClr val="FFA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differentiator: </a:t>
            </a:r>
            <a:r>
              <a:rPr lang="en-US" sz="18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move between facilities, but their information, urgency, and follow-up accountability do not move with them. VARADHI is the coordination layer that bridges this gap.</a:t>
            </a: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4295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NeuralNest</a:t>
            </a:r>
            <a:endParaRPr lang="en-IN" sz="1400" dirty="0"/>
          </a:p>
        </p:txBody>
      </p:sp>
      <p:pic>
        <p:nvPicPr>
          <p:cNvPr id="209715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B300CF6A-C486-5F1F-E31B-B4B20BD9D6B7}"/>
              </a:ext>
            </a:extLst>
          </p:cNvPr>
          <p:cNvSpPr/>
          <p:nvPr/>
        </p:nvSpPr>
        <p:spPr>
          <a:xfrm>
            <a:off x="233681" y="1257299"/>
            <a:ext cx="6451599" cy="4721517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997E7-447F-6EAC-6FBD-8363A24F92A4}"/>
              </a:ext>
            </a:extLst>
          </p:cNvPr>
          <p:cNvSpPr txBox="1"/>
          <p:nvPr/>
        </p:nvSpPr>
        <p:spPr>
          <a:xfrm>
            <a:off x="233681" y="1291596"/>
            <a:ext cx="6093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0070C0"/>
                </a:solidFill>
                <a:uFill>
                  <a:solidFill>
                    <a:srgbClr val="102A43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Problem</a:t>
            </a:r>
            <a:endParaRPr lang="en-US" sz="1600" u="sng" dirty="0">
              <a:solidFill>
                <a:srgbClr val="0070C0"/>
              </a:solidFill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CC7913C4-B050-1622-6B3E-83827AC71631}"/>
              </a:ext>
            </a:extLst>
          </p:cNvPr>
          <p:cNvSpPr/>
          <p:nvPr/>
        </p:nvSpPr>
        <p:spPr>
          <a:xfrm>
            <a:off x="6781372" y="1260594"/>
            <a:ext cx="5176947" cy="4718222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r>
              <a:rPr lang="en-US" sz="2400" b="1" u="sng" dirty="0">
                <a:solidFill>
                  <a:srgbClr val="0070C0"/>
                </a:solidFill>
                <a:uFill>
                  <a:solidFill>
                    <a:srgbClr val="102A43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Our Unique Solutions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AC87C-5A1C-7639-FE7E-205F3ED94AA1}"/>
              </a:ext>
            </a:extLst>
          </p:cNvPr>
          <p:cNvSpPr txBox="1"/>
          <p:nvPr/>
        </p:nvSpPr>
        <p:spPr>
          <a:xfrm>
            <a:off x="2875280" y="879184"/>
            <a:ext cx="604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Rural Care Continuity — From first contact to completed care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4DC7B6-EB1A-3C3D-CA15-EBD9F509F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3651761"/>
            <a:ext cx="6355507" cy="22935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37AEADF-0E75-7CC9-B276-1CA20D5A9B52}"/>
              </a:ext>
            </a:extLst>
          </p:cNvPr>
          <p:cNvSpPr txBox="1"/>
          <p:nvPr/>
        </p:nvSpPr>
        <p:spPr>
          <a:xfrm>
            <a:off x="433340" y="1685435"/>
            <a:ext cx="62519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Care: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Patients move between facilities, but information and follow-up accountability stay behind.</a:t>
            </a:r>
          </a:p>
          <a:p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Mirage: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"Availability" on paper often turns into a wasted 40km trip when a machine is down or a doctor is out.</a:t>
            </a:r>
            <a:endParaRPr lang="en-US" sz="1200" dirty="0"/>
          </a:p>
          <a:p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Drop-out: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Patients may fail complete referrals due to travel cost, unavailable services and lack of follow-up.</a:t>
            </a:r>
            <a:endParaRPr lang="en-US" sz="1200" dirty="0"/>
          </a:p>
          <a:p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Tax: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Frontline workers spend significant time on manual data entry. </a:t>
            </a:r>
            <a:endParaRPr lang="en-US" sz="1200" dirty="0"/>
          </a:p>
          <a:p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Gap: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Continuity breaks for patients without ABHA IDs, smartphones, or stable connectivity.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396FED-97C2-2650-9476-09E8B064A473}"/>
              </a:ext>
            </a:extLst>
          </p:cNvPr>
          <p:cNvSpPr txBox="1"/>
          <p:nvPr/>
        </p:nvSpPr>
        <p:spPr>
          <a:xfrm>
            <a:off x="6788847" y="1710212"/>
            <a:ext cx="498491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Referral Guard: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Create → Accept → Arrive → Complete → Close; refusal is recorded, not hidden.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Zero-Type Intake: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Local-language Voice-to-Text and OCR keep frontline data entry under two minutes.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Pulse-Check Readiness: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Staff confirm service availability in one tap; stale values are clearly flagged.</a:t>
            </a:r>
            <a:r>
              <a:rPr lang="en-IN" sz="1600" b="1" dirty="0"/>
              <a:t> 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Identity Resilience: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Offline-first patient episode ID with later consented synchronization.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Active Transport: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Structured emergency dispatch payload</a:t>
            </a:r>
          </a:p>
          <a:p>
            <a:r>
              <a:rPr lang="en-IN" sz="1600" dirty="0"/>
              <a:t>Compatible with ambulance service integration.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Coordination, not competition: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e-Sanjeevani delivers teleconsultation; ABDM stores consented records; </a:t>
            </a:r>
          </a:p>
          <a:p>
            <a:r>
              <a:rPr lang="en-IN" sz="1600" dirty="0"/>
              <a:t>Medi-</a:t>
            </a:r>
            <a:r>
              <a:rPr lang="en-IN" sz="1600" dirty="0" err="1"/>
              <a:t>Saarthi</a:t>
            </a:r>
            <a:r>
              <a:rPr lang="en-IN" sz="1600" dirty="0"/>
              <a:t> coordinates the next action and closure.</a:t>
            </a:r>
          </a:p>
          <a:p>
            <a:r>
              <a:rPr lang="en-IN" sz="1600" b="1" dirty="0">
                <a:solidFill>
                  <a:srgbClr val="FF3300"/>
                </a:solidFill>
                <a:highlight>
                  <a:srgbClr val="00FFFF"/>
                </a:highlight>
              </a:rPr>
              <a:t>Scope honesty:</a:t>
            </a:r>
            <a:r>
              <a:rPr lang="en-IN" sz="1600" dirty="0">
                <a:solidFill>
                  <a:srgbClr val="FF3300"/>
                </a:solidFill>
                <a:highlight>
                  <a:srgbClr val="00FFFF"/>
                </a:highlight>
              </a:rPr>
              <a:t> </a:t>
            </a:r>
            <a:r>
              <a:rPr lang="en-IN" sz="1600" i="1" dirty="0">
                <a:highlight>
                  <a:srgbClr val="00FFFF"/>
                </a:highlight>
              </a:rPr>
              <a:t>We optimize within available capacity, we do not create specialists, beds, medicines, or roads.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NeuralNest</a:t>
            </a:r>
            <a:endParaRPr lang="en-IN" sz="1400" dirty="0"/>
          </a:p>
        </p:txBody>
      </p:sp>
      <p:pic>
        <p:nvPicPr>
          <p:cNvPr id="209715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5F3771-AA9F-9454-03A8-4292ACAE4D2D}"/>
              </a:ext>
            </a:extLst>
          </p:cNvPr>
          <p:cNvCxnSpPr/>
          <p:nvPr/>
        </p:nvCxnSpPr>
        <p:spPr>
          <a:xfrm>
            <a:off x="0" y="1199421"/>
            <a:ext cx="12276000" cy="35795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Shape 4">
            <a:extLst>
              <a:ext uri="{FF2B5EF4-FFF2-40B4-BE49-F238E27FC236}">
                <a16:creationId xmlns:a16="http://schemas.microsoft.com/office/drawing/2014/main" id="{33002050-0EFF-F6AA-FA14-1A699799EDAD}"/>
              </a:ext>
            </a:extLst>
          </p:cNvPr>
          <p:cNvSpPr/>
          <p:nvPr/>
        </p:nvSpPr>
        <p:spPr>
          <a:xfrm>
            <a:off x="160141" y="1393439"/>
            <a:ext cx="4299564" cy="5328040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0802B2-FC1B-893B-1606-673C5EE650D5}"/>
              </a:ext>
            </a:extLst>
          </p:cNvPr>
          <p:cNvSpPr txBox="1"/>
          <p:nvPr/>
        </p:nvSpPr>
        <p:spPr>
          <a:xfrm>
            <a:off x="160142" y="1395246"/>
            <a:ext cx="6192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0070C0"/>
                </a:solidFill>
              </a:rPr>
              <a:t>Methodology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25C16-8B48-7438-043D-26626246D72C}"/>
              </a:ext>
            </a:extLst>
          </p:cNvPr>
          <p:cNvSpPr txBox="1"/>
          <p:nvPr/>
        </p:nvSpPr>
        <p:spPr>
          <a:xfrm>
            <a:off x="329774" y="1821343"/>
            <a:ext cx="4071475" cy="249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800"/>
              </a:lnSpc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Capture</a:t>
            </a: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voice-to-text in the preferred local language; OCR reads paper prescriptions.</a:t>
            </a:r>
          </a:p>
          <a:p>
            <a:pPr>
              <a:lnSpc>
                <a:spcPct val="92800"/>
              </a:lnSpc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Rules-Based Triage: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medical-board rules classify routine,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teleconsult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urgent, or referral.</a:t>
            </a:r>
            <a:endParaRPr lang="en-US" sz="1200" dirty="0"/>
          </a:p>
          <a:p>
            <a:pPr>
              <a:lnSpc>
                <a:spcPct val="92800"/>
              </a:lnSpc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Pulse-Check: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staff confirm slot/stock readiness in one tap; stale values show warning.</a:t>
            </a:r>
          </a:p>
          <a:p>
            <a:pPr>
              <a:lnSpc>
                <a:spcPct val="92800"/>
              </a:lnSpc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Dispatch: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red-flag cases send structured location/urgency packet to 108/102 adapter.</a:t>
            </a:r>
            <a:endParaRPr lang="en-US" sz="1200" dirty="0"/>
          </a:p>
          <a:p>
            <a:pPr>
              <a:lnSpc>
                <a:spcPct val="92800"/>
              </a:lnSpc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Guard: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→ accepted → arrived → completed → closed; refusal reason is recorded.</a:t>
            </a:r>
            <a:endParaRPr lang="en-US" sz="1200" dirty="0"/>
          </a:p>
          <a:p>
            <a:pPr>
              <a:lnSpc>
                <a:spcPct val="92800"/>
              </a:lnSpc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Continuity: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summary syncs through ABDM; worker receives missed-visit task.</a:t>
            </a:r>
            <a:endParaRPr lang="en-US" sz="1200" dirty="0"/>
          </a:p>
          <a:p>
            <a:pPr>
              <a:lnSpc>
                <a:spcPct val="92800"/>
              </a:lnSpc>
            </a:pPr>
            <a:endParaRPr lang="en-US" sz="1200" dirty="0"/>
          </a:p>
          <a:p>
            <a:pPr>
              <a:lnSpc>
                <a:spcPct val="92800"/>
              </a:lnSpc>
            </a:pPr>
            <a:endParaRPr lang="en-US" sz="12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7AC1AE0-4DE4-EF08-447A-78A90CDE6691}"/>
              </a:ext>
            </a:extLst>
          </p:cNvPr>
          <p:cNvSpPr/>
          <p:nvPr/>
        </p:nvSpPr>
        <p:spPr>
          <a:xfrm>
            <a:off x="4583344" y="1395246"/>
            <a:ext cx="4381185" cy="5326232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5349BB10-E4A7-4434-AC4F-3274D219BEF4}"/>
              </a:ext>
            </a:extLst>
          </p:cNvPr>
          <p:cNvSpPr/>
          <p:nvPr/>
        </p:nvSpPr>
        <p:spPr>
          <a:xfrm>
            <a:off x="9103360" y="1393439"/>
            <a:ext cx="2926576" cy="5328039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E229E0-4ECC-8CB5-13B2-17832CB80792}"/>
              </a:ext>
            </a:extLst>
          </p:cNvPr>
          <p:cNvSpPr txBox="1"/>
          <p:nvPr/>
        </p:nvSpPr>
        <p:spPr>
          <a:xfrm>
            <a:off x="4583344" y="1393439"/>
            <a:ext cx="6192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0070C0"/>
                </a:solidFill>
              </a:rPr>
              <a:t>End-to-End Patient Workflow</a:t>
            </a:r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163EEC33-FA26-6D8A-ADCE-E81254D9A9CA}"/>
              </a:ext>
            </a:extLst>
          </p:cNvPr>
          <p:cNvSpPr/>
          <p:nvPr/>
        </p:nvSpPr>
        <p:spPr>
          <a:xfrm>
            <a:off x="329773" y="4553197"/>
            <a:ext cx="3991101" cy="705708"/>
          </a:xfrm>
          <a:prstGeom prst="rect">
            <a:avLst/>
          </a:prstGeom>
          <a:solidFill>
            <a:srgbClr val="FFF5F3"/>
          </a:solidFill>
          <a:ln w="9144">
            <a:solidFill>
              <a:srgbClr val="C00000"/>
            </a:solidFill>
            <a:prstDash val="solid"/>
          </a:ln>
        </p:spPr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A596D88B-17CB-A85B-1748-C7D755716853}"/>
              </a:ext>
            </a:extLst>
          </p:cNvPr>
          <p:cNvSpPr/>
          <p:nvPr/>
        </p:nvSpPr>
        <p:spPr>
          <a:xfrm>
            <a:off x="329773" y="5323944"/>
            <a:ext cx="3991101" cy="461665"/>
          </a:xfrm>
          <a:prstGeom prst="rect">
            <a:avLst/>
          </a:prstGeom>
          <a:solidFill>
            <a:srgbClr val="FFF5F3"/>
          </a:solidFill>
          <a:ln w="9144">
            <a:solidFill>
              <a:srgbClr val="C00000"/>
            </a:solidFill>
            <a:prstDash val="solid"/>
          </a:ln>
        </p:spPr>
        <p:txBody>
          <a:bodyPr/>
          <a:lstStyle/>
          <a:p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Human-in-loop: worker confirms the suggested path; uncertain or emergency cases escalate to clinical staff.</a:t>
            </a:r>
            <a:endParaRPr lang="en-US" sz="1100" dirty="0"/>
          </a:p>
          <a:p>
            <a:endParaRPr lang="en-IN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D6942-725B-B5EA-F1C1-53E948694307}"/>
              </a:ext>
            </a:extLst>
          </p:cNvPr>
          <p:cNvSpPr txBox="1"/>
          <p:nvPr/>
        </p:nvSpPr>
        <p:spPr>
          <a:xfrm>
            <a:off x="373166" y="4566752"/>
            <a:ext cx="390431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boundary: VARADHI coordinates within available capacity. It does not create specialists, beds, stock, roads, or ambulances.</a:t>
            </a:r>
            <a:endParaRPr lang="en-US" sz="1100" dirty="0"/>
          </a:p>
          <a:p>
            <a:endParaRPr lang="en-IN" sz="1100" dirty="0"/>
          </a:p>
          <a:p>
            <a:endParaRPr lang="en-IN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E0D5E20-F592-3EBE-E4EE-4C3AEA31C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474" y="1787618"/>
            <a:ext cx="4122726" cy="47756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A2749E8-A0EC-3340-CBED-C1B8F56A2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9109" y="1433544"/>
            <a:ext cx="2739052" cy="5287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459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NeuralNest</a:t>
            </a:r>
            <a:endParaRPr lang="en-IN" sz="1400" dirty="0"/>
          </a:p>
        </p:txBody>
      </p:sp>
      <p:pic>
        <p:nvPicPr>
          <p:cNvPr id="209715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1DC076-2DA5-E426-8520-559F64E5465A}"/>
              </a:ext>
            </a:extLst>
          </p:cNvPr>
          <p:cNvCxnSpPr>
            <a:cxnSpLocks/>
          </p:cNvCxnSpPr>
          <p:nvPr/>
        </p:nvCxnSpPr>
        <p:spPr>
          <a:xfrm>
            <a:off x="0" y="1184807"/>
            <a:ext cx="12192000" cy="1576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hape 4">
            <a:extLst>
              <a:ext uri="{FF2B5EF4-FFF2-40B4-BE49-F238E27FC236}">
                <a16:creationId xmlns:a16="http://schemas.microsoft.com/office/drawing/2014/main" id="{D7B47111-71C9-8D94-833E-AD0DFA4148EB}"/>
              </a:ext>
            </a:extLst>
          </p:cNvPr>
          <p:cNvSpPr/>
          <p:nvPr/>
        </p:nvSpPr>
        <p:spPr>
          <a:xfrm>
            <a:off x="89718" y="1310034"/>
            <a:ext cx="6006282" cy="3461456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0486F2F-3AF1-2542-08EE-EC9BCCCF2AA7}"/>
              </a:ext>
            </a:extLst>
          </p:cNvPr>
          <p:cNvSpPr/>
          <p:nvPr/>
        </p:nvSpPr>
        <p:spPr>
          <a:xfrm>
            <a:off x="6314760" y="1310033"/>
            <a:ext cx="5760218" cy="3461456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30CC63-BC16-578F-ABBF-4708808F4454}"/>
              </a:ext>
            </a:extLst>
          </p:cNvPr>
          <p:cNvSpPr txBox="1"/>
          <p:nvPr/>
        </p:nvSpPr>
        <p:spPr>
          <a:xfrm>
            <a:off x="89718" y="1290007"/>
            <a:ext cx="614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rgbClr val="0070C0"/>
                </a:solidFill>
              </a:rPr>
              <a:t>Analysis of the Feasibility of the Idea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2C892-9EA3-B3C6-AC22-ACFCF38C4151}"/>
              </a:ext>
            </a:extLst>
          </p:cNvPr>
          <p:cNvSpPr txBox="1"/>
          <p:nvPr/>
        </p:nvSpPr>
        <p:spPr>
          <a:xfrm>
            <a:off x="6314760" y="1310031"/>
            <a:ext cx="615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b="1" u="sng" dirty="0">
                <a:solidFill>
                  <a:srgbClr val="0070C0"/>
                </a:solidFill>
                <a:uFill>
                  <a:solidFill>
                    <a:srgbClr val="102A43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Mitigations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83D3F03C-4022-A1C1-A904-F70B9AEBD6BE}"/>
              </a:ext>
            </a:extLst>
          </p:cNvPr>
          <p:cNvSpPr/>
          <p:nvPr/>
        </p:nvSpPr>
        <p:spPr>
          <a:xfrm>
            <a:off x="89718" y="4823046"/>
            <a:ext cx="11985260" cy="1879224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4E8F57-C9C5-8516-F8A0-44CA223A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57" y="4912906"/>
            <a:ext cx="11650381" cy="16928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8AC264-0EF0-F3DC-9FDA-CCBF1ADE7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705" y="1934784"/>
            <a:ext cx="5872308" cy="25920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E03133-4053-1E31-235E-8CD99DC21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964" y="1819597"/>
            <a:ext cx="5493574" cy="27949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4498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NeuralNest</a:t>
            </a:r>
            <a:endParaRPr lang="en-IN" sz="1400" dirty="0"/>
          </a:p>
        </p:txBody>
      </p:sp>
      <p:pic>
        <p:nvPicPr>
          <p:cNvPr id="209715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5401AD-06E7-F80F-5FD8-BB14E39110CB}"/>
              </a:ext>
            </a:extLst>
          </p:cNvPr>
          <p:cNvCxnSpPr>
            <a:cxnSpLocks/>
          </p:cNvCxnSpPr>
          <p:nvPr/>
        </p:nvCxnSpPr>
        <p:spPr>
          <a:xfrm>
            <a:off x="0" y="1184807"/>
            <a:ext cx="12192000" cy="31539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Shape 4">
            <a:extLst>
              <a:ext uri="{FF2B5EF4-FFF2-40B4-BE49-F238E27FC236}">
                <a16:creationId xmlns:a16="http://schemas.microsoft.com/office/drawing/2014/main" id="{DE13C569-726A-A4D4-6ED6-1CB27B57F01A}"/>
              </a:ext>
            </a:extLst>
          </p:cNvPr>
          <p:cNvSpPr/>
          <p:nvPr/>
        </p:nvSpPr>
        <p:spPr>
          <a:xfrm>
            <a:off x="6185718" y="3090116"/>
            <a:ext cx="5916564" cy="3568282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r>
              <a:rPr lang="en-US" sz="2400" b="1" u="sng" dirty="0">
                <a:solidFill>
                  <a:srgbClr val="0070C0"/>
                </a:solidFill>
              </a:rPr>
              <a:t>Strategic Outcomes</a:t>
            </a:r>
            <a:endParaRPr lang="en-US" sz="2000" dirty="0"/>
          </a:p>
          <a:p>
            <a:pPr marL="457200" indent="-457200">
              <a:buSzPct val="94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Social: </a:t>
            </a:r>
            <a:r>
              <a:rPr lang="en-US" sz="2000" dirty="0"/>
              <a:t>Continuity of care and restored patient trust in public health.</a:t>
            </a:r>
          </a:p>
          <a:p>
            <a:pPr marL="457200" indent="-457200">
              <a:buSzPct val="94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Economic: </a:t>
            </a:r>
            <a:r>
              <a:rPr lang="en-US" sz="2000" dirty="0"/>
              <a:t>Drastic reduction in out-of-pocket travel cost.</a:t>
            </a:r>
          </a:p>
          <a:p>
            <a:pPr marL="457200" indent="-457200">
              <a:buSzPct val="94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Governance:</a:t>
            </a:r>
            <a:r>
              <a:rPr lang="en-US" sz="2000" dirty="0"/>
              <a:t> Auditable referral for evidence based policymaking.</a:t>
            </a:r>
          </a:p>
          <a:p>
            <a:pPr marL="457200" indent="-457200">
              <a:buSzPct val="94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Emergency:</a:t>
            </a:r>
            <a:r>
              <a:rPr lang="en-US" sz="2000" dirty="0"/>
              <a:t> Automated escalation for high-risk maternal &amp; child cases.</a:t>
            </a:r>
          </a:p>
          <a:p>
            <a:endParaRPr lang="en-US" sz="2400" b="1" u="sng" dirty="0">
              <a:solidFill>
                <a:srgbClr val="0070C0"/>
              </a:solidFill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6A3ED510-FB83-5E34-4393-D99ECE894126}"/>
              </a:ext>
            </a:extLst>
          </p:cNvPr>
          <p:cNvSpPr/>
          <p:nvPr/>
        </p:nvSpPr>
        <p:spPr>
          <a:xfrm>
            <a:off x="134577" y="3058575"/>
            <a:ext cx="5961423" cy="3670944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Impact on Rural Patients</a:t>
            </a:r>
            <a:endParaRPr lang="en-US" sz="2400" u="sng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FBFCC-BC9C-7708-9A9C-769023368282}"/>
              </a:ext>
            </a:extLst>
          </p:cNvPr>
          <p:cNvSpPr txBox="1"/>
          <p:nvPr/>
        </p:nvSpPr>
        <p:spPr>
          <a:xfrm>
            <a:off x="162064" y="3544749"/>
            <a:ext cx="58221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0" indent="-127000">
              <a:buSzPct val="100000"/>
              <a:buFontTx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Consultation: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e-Sanjeevani integration brings specialist expertise to the village level, bypassing long travel.</a:t>
            </a:r>
            <a:endParaRPr lang="en-US" sz="1600" dirty="0"/>
          </a:p>
          <a:p>
            <a:pPr marL="127000" indent="-127000">
              <a:buSzPct val="100000"/>
              <a:buFontTx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Travel Burden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Assisted triage directs patients to the nearest appropriate available service ,reducing unnecessary travel.</a:t>
            </a:r>
            <a:endParaRPr lang="en-US" sz="1600" dirty="0"/>
          </a:p>
          <a:p>
            <a:pPr marL="127000" indent="-127000">
              <a:buSzPct val="100000"/>
              <a:buFontTx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Completion: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slots and shared summaries are designed to reduce referral drop-outs.</a:t>
            </a:r>
          </a:p>
          <a:p>
            <a:pPr marL="127000" indent="-127000">
              <a:buSzPct val="100000"/>
              <a:buFontTx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&amp; Child Safety: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follow-up tracking ensures critical care is never missed or delayed.</a:t>
            </a:r>
            <a:endParaRPr lang="en-US" sz="1600" dirty="0"/>
          </a:p>
          <a:p>
            <a:pPr marL="127000" indent="-127000">
              <a:buSzPct val="100000"/>
              <a:buFontTx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Access: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Multilingual, zero-type interaction builds trust and confidence in underserved communities.</a:t>
            </a:r>
            <a:endParaRPr lang="en-US" sz="16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8C9B9700-65DF-40BB-5662-44AA2ED5AEB7}"/>
              </a:ext>
            </a:extLst>
          </p:cNvPr>
          <p:cNvSpPr/>
          <p:nvPr/>
        </p:nvSpPr>
        <p:spPr>
          <a:xfrm>
            <a:off x="134577" y="1394776"/>
            <a:ext cx="11922846" cy="1592678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Benefits:-</a:t>
            </a:r>
            <a:endParaRPr lang="en-US" sz="2400" u="sng" dirty="0">
              <a:solidFill>
                <a:srgbClr val="0070C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8A350BC-C782-608F-2902-88242829D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32" y="1948474"/>
            <a:ext cx="11582730" cy="1005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5988968"/>
            <a:ext cx="12192000" cy="95491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763929" y="5754006"/>
            <a:ext cx="10567686" cy="1103994"/>
          </a:xfrm>
        </p:spPr>
        <p:txBody>
          <a:bodyPr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“fragmented care”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“connected healthcare”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NeuralNest</a:t>
            </a:r>
            <a:endParaRPr lang="en-IN" sz="1400" dirty="0"/>
          </a:p>
        </p:txBody>
      </p:sp>
      <p:pic>
        <p:nvPicPr>
          <p:cNvPr id="2097158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DB0BB0-5180-F975-3EA3-1515C628D45B}"/>
              </a:ext>
            </a:extLst>
          </p:cNvPr>
          <p:cNvCxnSpPr>
            <a:cxnSpLocks/>
          </p:cNvCxnSpPr>
          <p:nvPr/>
        </p:nvCxnSpPr>
        <p:spPr>
          <a:xfrm>
            <a:off x="0" y="1184807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2F2C5D-6B34-6018-9440-70488F4DEFEC}"/>
              </a:ext>
            </a:extLst>
          </p:cNvPr>
          <p:cNvSpPr txBox="1"/>
          <p:nvPr/>
        </p:nvSpPr>
        <p:spPr>
          <a:xfrm>
            <a:off x="1296364" y="6519278"/>
            <a:ext cx="9502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dirty="0">
                <a:solidFill>
                  <a:schemeClr val="bg1"/>
                </a:solidFill>
              </a:rPr>
              <a:t>Connect every patient, referral, diagnosis, and follow-up across the rural healthcare journey.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078E4F3-F410-B037-17FD-F3C1E7D24C14}"/>
              </a:ext>
            </a:extLst>
          </p:cNvPr>
          <p:cNvSpPr/>
          <p:nvPr/>
        </p:nvSpPr>
        <p:spPr>
          <a:xfrm>
            <a:off x="89718" y="1310033"/>
            <a:ext cx="6800098" cy="4602223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r>
              <a:rPr lang="en-IN" sz="2000" b="1" u="sng" dirty="0">
                <a:solidFill>
                  <a:srgbClr val="0070C0"/>
                </a:solidFill>
              </a:rPr>
              <a:t>Proposed Solution vs Existing Platforms</a:t>
            </a:r>
            <a:endParaRPr lang="en-US" sz="2000" b="1" u="sng" dirty="0">
              <a:solidFill>
                <a:srgbClr val="0070C0"/>
              </a:solidFill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24F0352-425D-3B04-36FB-BC381B11A060}"/>
              </a:ext>
            </a:extLst>
          </p:cNvPr>
          <p:cNvSpPr/>
          <p:nvPr/>
        </p:nvSpPr>
        <p:spPr>
          <a:xfrm>
            <a:off x="6979534" y="1310034"/>
            <a:ext cx="5116009" cy="4602222"/>
          </a:xfrm>
          <a:prstGeom prst="rect">
            <a:avLst/>
          </a:prstGeom>
          <a:solidFill>
            <a:srgbClr val="FFFFFF"/>
          </a:solidFill>
          <a:ln w="9144">
            <a:solidFill>
              <a:srgbClr val="9FB3C3"/>
            </a:solidFill>
            <a:prstDash val="solid"/>
          </a:ln>
        </p:spPr>
        <p:txBody>
          <a:bodyPr/>
          <a:lstStyle/>
          <a:p>
            <a:r>
              <a:rPr lang="en-IN" sz="2400" b="1" u="sng" dirty="0">
                <a:solidFill>
                  <a:srgbClr val="0070C0"/>
                </a:solidFill>
              </a:rPr>
              <a:t>Research and References</a:t>
            </a:r>
            <a:endParaRPr lang="en-US" sz="2400" b="1" u="sng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F44CC4-CED8-F613-70C8-B46E35F01E85}"/>
              </a:ext>
            </a:extLst>
          </p:cNvPr>
          <p:cNvSpPr txBox="1"/>
          <p:nvPr/>
        </p:nvSpPr>
        <p:spPr>
          <a:xfrm>
            <a:off x="6939038" y="1671767"/>
            <a:ext cx="5050402" cy="3987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IN" sz="1400" b="1" dirty="0">
                <a:solidFill>
                  <a:srgbClr val="C00000"/>
                </a:solidFill>
                <a:effectLst/>
              </a:rPr>
              <a:t>[1]</a:t>
            </a:r>
            <a:r>
              <a:rPr lang="en-IN" sz="1400" b="1" dirty="0"/>
              <a:t> </a:t>
            </a: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Health Authority (NHA)</a:t>
            </a:r>
            <a:br>
              <a:rPr lang="en-IN" sz="1400" dirty="0"/>
            </a:br>
            <a:r>
              <a:rPr lang="en-IN" sz="1200" dirty="0"/>
              <a:t>“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ABDM Scan and Share milestone for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lOPD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registrations.</a:t>
            </a:r>
            <a:endParaRPr lang="en-US" sz="1200" dirty="0"/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https://abdm.gov.in/scan-share</a:t>
            </a:r>
            <a:endParaRPr lang="en-US" sz="1200" dirty="0"/>
          </a:p>
          <a:p>
            <a:r>
              <a:rPr lang="en-IN" sz="1400" b="1" dirty="0">
                <a:solidFill>
                  <a:srgbClr val="FF0000"/>
                </a:solidFill>
              </a:rPr>
              <a:t>[2] </a:t>
            </a: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e-Sanjeevani</a:t>
            </a:r>
            <a:endParaRPr lang="en-US" sz="1400" dirty="0"/>
          </a:p>
          <a:p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National Teleconsultation Service framework for rural health access.</a:t>
            </a:r>
            <a:endParaRPr lang="en-US" sz="1200" dirty="0"/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https://esanjeevani.mohfw.gov.in/</a:t>
            </a:r>
            <a:endParaRPr lang="en-US" sz="1200" dirty="0"/>
          </a:p>
          <a:p>
            <a:r>
              <a:rPr lang="en-IN" sz="1400" b="1" dirty="0">
                <a:solidFill>
                  <a:srgbClr val="FF0000"/>
                </a:solidFill>
              </a:rPr>
              <a:t>[3] </a:t>
            </a: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2023</a:t>
            </a:r>
            <a:br>
              <a:rPr lang="en-IN" sz="1200" dirty="0"/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Regulatory framework for health data privacy and consent in India</a:t>
            </a:r>
            <a:r>
              <a:rPr lang="en-IN" sz="1200" dirty="0"/>
              <a:t>.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https://www.meity.gov.in/content/digital-personal-data-protection-act-2023</a:t>
            </a:r>
            <a:endParaRPr lang="en-US" sz="1200" dirty="0">
              <a:solidFill>
                <a:srgbClr val="0070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04000"/>
              </a:lnSpc>
            </a:pPr>
            <a:r>
              <a:rPr lang="en-IN" sz="1400" b="1" dirty="0">
                <a:solidFill>
                  <a:srgbClr val="FF0000"/>
                </a:solidFill>
              </a:rPr>
              <a:t>[4] </a:t>
            </a: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– Primary HealthCare in India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integrated health services as coordination across primary, secondary and tertiary levels, with timely referrals and follow-up to reduce fragmentation.</a:t>
            </a:r>
          </a:p>
          <a:p>
            <a:pPr>
              <a:lnSpc>
                <a:spcPct val="104000"/>
              </a:lnSpc>
            </a:pPr>
            <a:r>
              <a:rPr lang="en-IN" sz="1400" b="1" dirty="0">
                <a:solidFill>
                  <a:srgbClr val="FF0000"/>
                </a:solidFill>
              </a:rPr>
              <a:t>[5] </a:t>
            </a: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– Online Referral System, Karnataka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digital technology and improved referral pathway</a:t>
            </a:r>
            <a:endParaRPr lang="en-US" sz="1200" b="1" dirty="0">
              <a:solidFill>
                <a:srgbClr val="1F497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04000"/>
              </a:lnSpc>
            </a:pPr>
            <a:r>
              <a:rPr lang="en-IN" sz="1400" b="1" dirty="0">
                <a:solidFill>
                  <a:srgbClr val="FF0000"/>
                </a:solidFill>
              </a:rPr>
              <a:t>[6] </a:t>
            </a: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– Digital Transformation Handbook for Primary Healthcare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workflow mapping 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03550-0053-096E-6B08-A960D19217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321" y="4751709"/>
            <a:ext cx="6619874" cy="1028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2B911-9B04-A7B9-4299-DCE6D25BFE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543" y="1671767"/>
            <a:ext cx="6510447" cy="3079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804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MEDI-SAARTHI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Sai Charan Rapolu</cp:lastModifiedBy>
  <cp:revision>18</cp:revision>
  <dcterms:created xsi:type="dcterms:W3CDTF">2013-12-12T07:46:50Z</dcterms:created>
  <dcterms:modified xsi:type="dcterms:W3CDTF">2026-09-04T06:07:17Z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f643bfcb84024b3b9cc0cace428ec3b0_23</vt:lpwstr>
  </property>
</Properties>
</file>